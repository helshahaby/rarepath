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2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3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INTRODUCTION</a:t>
            </a:r>
            <a:endParaRPr lang="en-US" sz="1000" dirty="0"/>
          </a:p>
        </p:txBody>
      </p:sp>
      <p:sp>
        <p:nvSpPr>
          <p:cNvPr id="5" name="R0_4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5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6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06</a:t>
            </a:r>
            <a:endParaRPr lang="en-US" sz="800" dirty="0"/>
          </a:p>
        </p:txBody>
      </p:sp>
      <p:sp>
        <p:nvSpPr>
          <p:cNvPr id="8" name="R1_7"/>
          <p:cNvSpPr/>
          <p:nvPr/>
        </p:nvSpPr>
        <p:spPr>
          <a:xfrm>
            <a:off x="685800" y="9509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INTRODUCTION</a:t>
            </a:r>
            <a:endParaRPr lang="en-US" sz="1100" dirty="0"/>
          </a:p>
        </p:txBody>
      </p:sp>
      <p:sp>
        <p:nvSpPr>
          <p:cNvPr id="9" name="R1_8"/>
          <p:cNvSpPr/>
          <p:nvPr/>
        </p:nvSpPr>
        <p:spPr>
          <a:xfrm>
            <a:off x="667512" y="1344168"/>
            <a:ext cx="9784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RarePath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Atlas</a:t>
            </a:r>
            <a:endParaRPr lang="en-US" sz="5600" dirty="0"/>
          </a:p>
        </p:txBody>
      </p:sp>
      <p:sp>
        <p:nvSpPr>
          <p:cNvPr id="10" name="R1_9"/>
          <p:cNvSpPr/>
          <p:nvPr/>
        </p:nvSpPr>
        <p:spPr>
          <a:xfrm>
            <a:off x="685800" y="3712464"/>
            <a:ext cx="8092440" cy="0"/>
          </a:xfrm>
          <a:prstGeom prst="line">
            <a:avLst/>
          </a:prstGeom>
          <a:noFill/>
          <a:ln w="25400">
            <a:solidFill>
              <a:srgbClr val="5ED6A5"/>
            </a:solidFill>
            <a:prstDash val="solid"/>
          </a:ln>
        </p:spPr>
      </p:sp>
      <p:sp>
        <p:nvSpPr>
          <p:cNvPr id="11" name="R2_10"/>
          <p:cNvSpPr/>
          <p:nvPr/>
        </p:nvSpPr>
        <p:spPr>
          <a:xfrm>
            <a:off x="685800" y="39776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rare diagnosis to a sourced research decision.</a:t>
            </a:r>
            <a:endParaRPr lang="en-US" sz="2300" dirty="0"/>
          </a:p>
        </p:txBody>
      </p:sp>
      <p:sp>
        <p:nvSpPr>
          <p:cNvPr id="12" name="R2_11"/>
          <p:cNvSpPr/>
          <p:nvPr/>
        </p:nvSpPr>
        <p:spPr>
          <a:xfrm>
            <a:off x="685800" y="4937760"/>
            <a:ext cx="7315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Elshahaby  ·  Software engineer</a:t>
            </a:r>
            <a:endParaRPr lang="en-US" sz="2000" dirty="0"/>
          </a:p>
        </p:txBody>
      </p:sp>
      <p:sp>
        <p:nvSpPr>
          <p:cNvPr id="13" name="R2_12"/>
          <p:cNvSpPr/>
          <p:nvPr/>
        </p:nvSpPr>
        <p:spPr>
          <a:xfrm>
            <a:off x="685800" y="5376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across automotive and IT companies</a:t>
            </a:r>
            <a:endParaRPr lang="en-US" sz="1500" dirty="0"/>
          </a:p>
        </p:txBody>
      </p:sp>
      <p:sp>
        <p:nvSpPr>
          <p:cNvPr id="14" name="R1_13"/>
          <p:cNvSpPr/>
          <p:nvPr/>
        </p:nvSpPr>
        <p:spPr>
          <a:xfrm>
            <a:off x="7498080" y="9509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2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1200" dirty="0"/>
          </a:p>
        </p:txBody>
      </p:sp>
      <p:sp>
        <p:nvSpPr>
          <p:cNvPr id="15" name="R0_14"/>
          <p:cNvSpPr/>
          <p:nvPr/>
        </p:nvSpPr>
        <p:spPr>
          <a:xfrm>
            <a:off x="9345168" y="59527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TO REVEAL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35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0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3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35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7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" dur="3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15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16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17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R0_18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19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20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06</a:t>
            </a:r>
            <a:endParaRPr lang="en-US" sz="800" dirty="0"/>
          </a:p>
        </p:txBody>
      </p:sp>
      <p:sp>
        <p:nvSpPr>
          <p:cNvPr id="8" name="R1_21"/>
          <p:cNvSpPr/>
          <p:nvPr/>
        </p:nvSpPr>
        <p:spPr>
          <a:xfrm>
            <a:off x="658368" y="704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9" name="R1_22"/>
          <p:cNvSpPr/>
          <p:nvPr/>
        </p:nvSpPr>
        <p:spPr>
          <a:xfrm>
            <a:off x="658368" y="10149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has data. Research has fragments.</a:t>
            </a:r>
            <a:endParaRPr lang="en-US" sz="3800" dirty="0"/>
          </a:p>
        </p:txBody>
      </p:sp>
      <p:sp>
        <p:nvSpPr>
          <p:cNvPr id="10" name="R1_23"/>
          <p:cNvSpPr/>
          <p:nvPr/>
        </p:nvSpPr>
        <p:spPr>
          <a:xfrm>
            <a:off x="685800" y="181965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hard part is tracing a defensible path between them.</a:t>
            </a:r>
            <a:endParaRPr lang="en-US" sz="1500" dirty="0"/>
          </a:p>
        </p:txBody>
      </p:sp>
      <p:sp>
        <p:nvSpPr>
          <p:cNvPr id="11" name="R2_24"/>
          <p:cNvSpPr/>
          <p:nvPr/>
        </p:nvSpPr>
        <p:spPr>
          <a:xfrm>
            <a:off x="658368" y="2560320"/>
            <a:ext cx="5330952" cy="1188720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12" name="R2_25"/>
          <p:cNvSpPr/>
          <p:nvPr/>
        </p:nvSpPr>
        <p:spPr>
          <a:xfrm>
            <a:off x="658368" y="2560320"/>
            <a:ext cx="64008" cy="1188720"/>
          </a:xfrm>
          <a:prstGeom prst="rect">
            <a:avLst/>
          </a:prstGeom>
          <a:solidFill>
            <a:srgbClr val="89BDE8"/>
          </a:solidFill>
          <a:ln w="12700">
            <a:solidFill>
              <a:srgbClr val="89BDE8"/>
            </a:solidFill>
            <a:prstDash val="solid"/>
          </a:ln>
        </p:spPr>
      </p:sp>
      <p:sp>
        <p:nvSpPr>
          <p:cNvPr id="13" name="R2_26"/>
          <p:cNvSpPr/>
          <p:nvPr/>
        </p:nvSpPr>
        <p:spPr>
          <a:xfrm>
            <a:off x="859536" y="274320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9BD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R2_27"/>
          <p:cNvSpPr/>
          <p:nvPr/>
        </p:nvSpPr>
        <p:spPr>
          <a:xfrm>
            <a:off x="1399032" y="2697480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Scattered evidence</a:t>
            </a:r>
            <a:endParaRPr lang="en-US" sz="1700" dirty="0"/>
          </a:p>
        </p:txBody>
      </p:sp>
      <p:sp>
        <p:nvSpPr>
          <p:cNvPr id="15" name="R2_28"/>
          <p:cNvSpPr/>
          <p:nvPr/>
        </p:nvSpPr>
        <p:spPr>
          <a:xfrm>
            <a:off x="1399032" y="3063240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Symptoms, variants, papers and trials live in different places.</a:t>
            </a:r>
            <a:endParaRPr lang="en-US" sz="1250" dirty="0"/>
          </a:p>
        </p:txBody>
      </p:sp>
      <p:sp>
        <p:nvSpPr>
          <p:cNvPr id="16" name="R3_29"/>
          <p:cNvSpPr/>
          <p:nvPr/>
        </p:nvSpPr>
        <p:spPr>
          <a:xfrm>
            <a:off x="6190488" y="2560320"/>
            <a:ext cx="5330952" cy="1188720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17" name="R3_30"/>
          <p:cNvSpPr/>
          <p:nvPr/>
        </p:nvSpPr>
        <p:spPr>
          <a:xfrm>
            <a:off x="6190488" y="2560320"/>
            <a:ext cx="64008" cy="1188720"/>
          </a:xfrm>
          <a:prstGeom prst="rect">
            <a:avLst/>
          </a:prstGeom>
          <a:solidFill>
            <a:srgbClr val="F08D91"/>
          </a:solidFill>
          <a:ln w="12700">
            <a:solidFill>
              <a:srgbClr val="F08D91"/>
            </a:solidFill>
            <a:prstDash val="solid"/>
          </a:ln>
        </p:spPr>
      </p:sp>
      <p:sp>
        <p:nvSpPr>
          <p:cNvPr id="18" name="R3_31"/>
          <p:cNvSpPr/>
          <p:nvPr/>
        </p:nvSpPr>
        <p:spPr>
          <a:xfrm>
            <a:off x="6391656" y="274320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8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R3_32"/>
          <p:cNvSpPr/>
          <p:nvPr/>
        </p:nvSpPr>
        <p:spPr>
          <a:xfrm>
            <a:off x="6931152" y="2697480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Confused connections</a:t>
            </a:r>
            <a:endParaRPr lang="en-US" sz="1700" dirty="0"/>
          </a:p>
        </p:txBody>
      </p:sp>
      <p:sp>
        <p:nvSpPr>
          <p:cNvPr id="20" name="R3_33"/>
          <p:cNvSpPr/>
          <p:nvPr/>
        </p:nvSpPr>
        <p:spPr>
          <a:xfrm>
            <a:off x="6931152" y="3063240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symptom is not proof of the same mechanism.</a:t>
            </a:r>
            <a:endParaRPr lang="en-US" sz="1250" dirty="0"/>
          </a:p>
        </p:txBody>
      </p:sp>
      <p:sp>
        <p:nvSpPr>
          <p:cNvPr id="21" name="R4_34"/>
          <p:cNvSpPr/>
          <p:nvPr/>
        </p:nvSpPr>
        <p:spPr>
          <a:xfrm>
            <a:off x="658368" y="3995928"/>
            <a:ext cx="5330952" cy="1188720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22" name="R4_35"/>
          <p:cNvSpPr/>
          <p:nvPr/>
        </p:nvSpPr>
        <p:spPr>
          <a:xfrm>
            <a:off x="658368" y="3995928"/>
            <a:ext cx="64008" cy="1188720"/>
          </a:xfrm>
          <a:prstGeom prst="rect">
            <a:avLst/>
          </a:prstGeom>
          <a:solidFill>
            <a:srgbClr val="E8B75C"/>
          </a:solidFill>
          <a:ln w="12700">
            <a:solidFill>
              <a:srgbClr val="E8B75C"/>
            </a:solidFill>
            <a:prstDash val="solid"/>
          </a:ln>
        </p:spPr>
      </p:sp>
      <p:sp>
        <p:nvSpPr>
          <p:cNvPr id="23" name="R4_36"/>
          <p:cNvSpPr/>
          <p:nvPr/>
        </p:nvSpPr>
        <p:spPr>
          <a:xfrm>
            <a:off x="859536" y="4178808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R4_37"/>
          <p:cNvSpPr/>
          <p:nvPr/>
        </p:nvSpPr>
        <p:spPr>
          <a:xfrm>
            <a:off x="1399032" y="4133088"/>
            <a:ext cx="4361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next step</a:t>
            </a:r>
            <a:endParaRPr lang="en-US" sz="1700" dirty="0"/>
          </a:p>
        </p:txBody>
      </p:sp>
      <p:sp>
        <p:nvSpPr>
          <p:cNvPr id="25" name="R4_38"/>
          <p:cNvSpPr/>
          <p:nvPr/>
        </p:nvSpPr>
        <p:spPr>
          <a:xfrm>
            <a:off x="1399032" y="4498848"/>
            <a:ext cx="4352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case certainty can obscure useful disease-level research.</a:t>
            </a:r>
            <a:endParaRPr lang="en-US" sz="1250" dirty="0"/>
          </a:p>
        </p:txBody>
      </p:sp>
      <p:sp>
        <p:nvSpPr>
          <p:cNvPr id="26" name="R4_39"/>
          <p:cNvSpPr/>
          <p:nvPr/>
        </p:nvSpPr>
        <p:spPr>
          <a:xfrm>
            <a:off x="6455664" y="5029200"/>
            <a:ext cx="4700016" cy="0"/>
          </a:xfrm>
          <a:prstGeom prst="line">
            <a:avLst/>
          </a:prstGeom>
          <a:noFill/>
          <a:ln w="20320">
            <a:solidFill>
              <a:srgbClr val="5ED6A5"/>
            </a:solidFill>
            <a:prstDash val="solid"/>
          </a:ln>
        </p:spPr>
      </p:sp>
      <p:sp>
        <p:nvSpPr>
          <p:cNvPr id="27" name="R4_40"/>
          <p:cNvSpPr/>
          <p:nvPr/>
        </p:nvSpPr>
        <p:spPr>
          <a:xfrm>
            <a:off x="6446520" y="517550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D6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is not just discovery.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5ED6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knowing what is supported.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3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35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" dur="350" fill="hold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19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3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1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35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350" fill="hold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2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" dur="350" fill="hold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id="28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350" fill="hold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id="30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" dur="3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2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350" fill="hold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id="35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" dur="350" fill="hold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id="37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" dur="350" fill="hold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id="39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" dur="350" fill="hold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id="41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" dur="350" fill="hold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id="43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" dur="350" fill="hold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id="45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" dur="350" fill="hold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4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42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43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R0_44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45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46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06</a:t>
            </a:r>
            <a:endParaRPr lang="en-US" sz="800" dirty="0"/>
          </a:p>
        </p:txBody>
      </p:sp>
      <p:sp>
        <p:nvSpPr>
          <p:cNvPr id="8" name="R1_47"/>
          <p:cNvSpPr/>
          <p:nvPr/>
        </p:nvSpPr>
        <p:spPr>
          <a:xfrm>
            <a:off x="658368" y="704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RAREPATH DOES</a:t>
            </a:r>
            <a:endParaRPr lang="en-US" sz="1100" dirty="0"/>
          </a:p>
        </p:txBody>
      </p:sp>
      <p:sp>
        <p:nvSpPr>
          <p:cNvPr id="9" name="R1_48"/>
          <p:cNvSpPr/>
          <p:nvPr/>
        </p:nvSpPr>
        <p:spPr>
          <a:xfrm>
            <a:off x="658368" y="10149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evidence into a research route.</a:t>
            </a:r>
            <a:endParaRPr lang="en-US" sz="3800" dirty="0"/>
          </a:p>
        </p:txBody>
      </p:sp>
      <p:sp>
        <p:nvSpPr>
          <p:cNvPr id="10" name="R1_49"/>
          <p:cNvSpPr/>
          <p:nvPr/>
        </p:nvSpPr>
        <p:spPr>
          <a:xfrm>
            <a:off x="685800" y="181965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structures and explains records; the records remain the evidence.</a:t>
            </a:r>
            <a:endParaRPr lang="en-US" sz="1500" dirty="0"/>
          </a:p>
        </p:txBody>
      </p:sp>
      <p:sp>
        <p:nvSpPr>
          <p:cNvPr id="11" name="R2_50"/>
          <p:cNvSpPr/>
          <p:nvPr/>
        </p:nvSpPr>
        <p:spPr>
          <a:xfrm>
            <a:off x="694944" y="2697480"/>
            <a:ext cx="2651760" cy="2212848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12" name="R2_51"/>
          <p:cNvSpPr/>
          <p:nvPr/>
        </p:nvSpPr>
        <p:spPr>
          <a:xfrm>
            <a:off x="868680" y="285292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R2_52"/>
          <p:cNvSpPr/>
          <p:nvPr/>
        </p:nvSpPr>
        <p:spPr>
          <a:xfrm>
            <a:off x="86868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500" dirty="0"/>
          </a:p>
        </p:txBody>
      </p:sp>
      <p:sp>
        <p:nvSpPr>
          <p:cNvPr id="14" name="R2_53"/>
          <p:cNvSpPr/>
          <p:nvPr/>
        </p:nvSpPr>
        <p:spPr>
          <a:xfrm>
            <a:off x="868680" y="3849624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or detailed case; reports need confirmation.</a:t>
            </a:r>
            <a:endParaRPr lang="en-US" sz="1300" dirty="0"/>
          </a:p>
        </p:txBody>
      </p:sp>
      <p:sp>
        <p:nvSpPr>
          <p:cNvPr id="15" name="R3_54"/>
          <p:cNvSpPr/>
          <p:nvPr/>
        </p:nvSpPr>
        <p:spPr>
          <a:xfrm>
            <a:off x="3575304" y="2697480"/>
            <a:ext cx="2651760" cy="2212848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16" name="R3_55"/>
          <p:cNvSpPr/>
          <p:nvPr/>
        </p:nvSpPr>
        <p:spPr>
          <a:xfrm>
            <a:off x="3749040" y="285292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R3_56"/>
          <p:cNvSpPr/>
          <p:nvPr/>
        </p:nvSpPr>
        <p:spPr>
          <a:xfrm>
            <a:off x="374904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1500" dirty="0"/>
          </a:p>
        </p:txBody>
      </p:sp>
      <p:sp>
        <p:nvSpPr>
          <p:cNvPr id="18" name="R3_57"/>
          <p:cNvSpPr/>
          <p:nvPr/>
        </p:nvSpPr>
        <p:spPr>
          <a:xfrm>
            <a:off x="3749040" y="3849624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PubMed, ClinVar, ClinicalTrials.gov and MONDO.</a:t>
            </a:r>
            <a:endParaRPr lang="en-US" sz="1300" dirty="0"/>
          </a:p>
        </p:txBody>
      </p:sp>
      <p:sp>
        <p:nvSpPr>
          <p:cNvPr id="19" name="R4_58"/>
          <p:cNvSpPr/>
          <p:nvPr/>
        </p:nvSpPr>
        <p:spPr>
          <a:xfrm>
            <a:off x="6455664" y="2697480"/>
            <a:ext cx="2651760" cy="2212848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20" name="R4_59"/>
          <p:cNvSpPr/>
          <p:nvPr/>
        </p:nvSpPr>
        <p:spPr>
          <a:xfrm>
            <a:off x="6629400" y="285292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B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R4_60"/>
          <p:cNvSpPr/>
          <p:nvPr/>
        </p:nvSpPr>
        <p:spPr>
          <a:xfrm>
            <a:off x="662940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</a:t>
            </a:r>
            <a:endParaRPr lang="en-US" sz="1500" dirty="0"/>
          </a:p>
        </p:txBody>
      </p:sp>
      <p:sp>
        <p:nvSpPr>
          <p:cNvPr id="22" name="R4_61"/>
          <p:cNvSpPr/>
          <p:nvPr/>
        </p:nvSpPr>
        <p:spPr>
          <a:xfrm>
            <a:off x="6629400" y="3849624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 → mechanism → related work → partner.</a:t>
            </a:r>
            <a:endParaRPr lang="en-US" sz="1300" dirty="0"/>
          </a:p>
        </p:txBody>
      </p:sp>
      <p:sp>
        <p:nvSpPr>
          <p:cNvPr id="23" name="R5_62"/>
          <p:cNvSpPr/>
          <p:nvPr/>
        </p:nvSpPr>
        <p:spPr>
          <a:xfrm>
            <a:off x="9336024" y="2697480"/>
            <a:ext cx="2651760" cy="2212848"/>
          </a:xfrm>
          <a:prstGeom prst="rect">
            <a:avLst/>
          </a:prstGeom>
          <a:solidFill>
            <a:srgbClr val="1B1E21"/>
          </a:solidFill>
          <a:ln w="10160">
            <a:solidFill>
              <a:srgbClr val="353B3B"/>
            </a:solidFill>
            <a:prstDash val="solid"/>
          </a:ln>
        </p:spPr>
      </p:sp>
      <p:sp>
        <p:nvSpPr>
          <p:cNvPr id="24" name="R5_63"/>
          <p:cNvSpPr/>
          <p:nvPr/>
        </p:nvSpPr>
        <p:spPr>
          <a:xfrm>
            <a:off x="9509760" y="2852928"/>
            <a:ext cx="914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ED6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R5_64"/>
          <p:cNvSpPr/>
          <p:nvPr/>
        </p:nvSpPr>
        <p:spPr>
          <a:xfrm>
            <a:off x="950976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500" dirty="0"/>
          </a:p>
        </p:txBody>
      </p:sp>
      <p:sp>
        <p:nvSpPr>
          <p:cNvPr id="26" name="R5_65"/>
          <p:cNvSpPr/>
          <p:nvPr/>
        </p:nvSpPr>
        <p:spPr>
          <a:xfrm>
            <a:off x="9509760" y="3849624"/>
            <a:ext cx="226771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sourced next step, or an honest gap + plan.</a:t>
            </a:r>
            <a:endParaRPr lang="en-US" sz="1300" dirty="0"/>
          </a:p>
        </p:txBody>
      </p:sp>
      <p:sp>
        <p:nvSpPr>
          <p:cNvPr id="27" name="R6_66"/>
          <p:cNvSpPr/>
          <p:nvPr/>
        </p:nvSpPr>
        <p:spPr>
          <a:xfrm>
            <a:off x="694944" y="5385816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OpenAI: EXTRACT · RECONCILE · PLAN · EXPLAIN</a:t>
            </a:r>
            <a:endParaRPr lang="en-US" sz="1600" dirty="0"/>
          </a:p>
        </p:txBody>
      </p:sp>
      <p:sp>
        <p:nvSpPr>
          <p:cNvPr id="28" name="R6_67"/>
          <p:cNvSpPr/>
          <p:nvPr/>
        </p:nvSpPr>
        <p:spPr>
          <a:xfrm>
            <a:off x="694944" y="58155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evidence → no claim. Never a diagnosis or prescription.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3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35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" dur="3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350" fill="hold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35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350" fill="hold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2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" dur="3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" dur="350" fill="hold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id="3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350" fill="hold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id="3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350" fill="hold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id="35" dur="1" fill="hold"/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" dur="350" fill="hold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7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8" dur="1" fill="hold"/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" dur="350" fill="hold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id="40" dur="1" fill="hold"/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350" fill="hold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id="42" dur="1" fill="hold"/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" dur="350" fill="hold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id="44" dur="1" fill="hold"/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350" fill="hold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4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7" dur="1" fill="hold"/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" dur="350" fill="hold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id="49" dur="1" fill="hold"/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" dur="350" fill="hold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68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69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70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IMPACT</a:t>
            </a:r>
            <a:endParaRPr lang="en-US" sz="1000" dirty="0"/>
          </a:p>
        </p:txBody>
      </p:sp>
      <p:sp>
        <p:nvSpPr>
          <p:cNvPr id="5" name="R0_71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72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73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06</a:t>
            </a:r>
            <a:endParaRPr lang="en-US" sz="800" dirty="0"/>
          </a:p>
        </p:txBody>
      </p:sp>
      <p:sp>
        <p:nvSpPr>
          <p:cNvPr id="8" name="R1_74"/>
          <p:cNvSpPr/>
          <p:nvPr/>
        </p:nvSpPr>
        <p:spPr>
          <a:xfrm>
            <a:off x="658368" y="704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R1_75"/>
          <p:cNvSpPr/>
          <p:nvPr/>
        </p:nvSpPr>
        <p:spPr>
          <a:xfrm>
            <a:off x="658368" y="101498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without false certainty.</a:t>
            </a:r>
            <a:endParaRPr lang="en-US" sz="3800" dirty="0"/>
          </a:p>
        </p:txBody>
      </p:sp>
      <p:sp>
        <p:nvSpPr>
          <p:cNvPr id="10" name="R1_76"/>
          <p:cNvSpPr/>
          <p:nvPr/>
        </p:nvSpPr>
        <p:spPr>
          <a:xfrm>
            <a:off x="685800" y="1819656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is a research-navigation tool, not a treatment recommendation.</a:t>
            </a:r>
            <a:endParaRPr lang="en-US" sz="1500" dirty="0"/>
          </a:p>
        </p:txBody>
      </p:sp>
      <p:sp>
        <p:nvSpPr>
          <p:cNvPr id="11" name="R2_77"/>
          <p:cNvSpPr/>
          <p:nvPr/>
        </p:nvSpPr>
        <p:spPr>
          <a:xfrm>
            <a:off x="713232" y="2560320"/>
            <a:ext cx="5257800" cy="2514600"/>
          </a:xfrm>
          <a:prstGeom prst="rect">
            <a:avLst/>
          </a:prstGeom>
          <a:solidFill>
            <a:srgbClr val="1B1E21"/>
          </a:solidFill>
          <a:ln w="15240">
            <a:solidFill>
              <a:srgbClr val="5ED6A5"/>
            </a:solidFill>
            <a:prstDash val="solid"/>
          </a:ln>
        </p:spPr>
      </p:sp>
      <p:sp>
        <p:nvSpPr>
          <p:cNvPr id="12" name="R2_78"/>
          <p:cNvSpPr/>
          <p:nvPr/>
        </p:nvSpPr>
        <p:spPr>
          <a:xfrm>
            <a:off x="987552" y="28072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A</a:t>
            </a:r>
            <a:endParaRPr lang="en-US" sz="1300" dirty="0"/>
          </a:p>
        </p:txBody>
      </p:sp>
      <p:sp>
        <p:nvSpPr>
          <p:cNvPr id="13" name="R2_79"/>
          <p:cNvSpPr/>
          <p:nvPr/>
        </p:nvSpPr>
        <p:spPr>
          <a:xfrm>
            <a:off x="987552" y="32461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Justified collaboration</a:t>
            </a:r>
            <a:endParaRPr lang="en-US" sz="2900" dirty="0"/>
          </a:p>
        </p:txBody>
      </p:sp>
      <p:sp>
        <p:nvSpPr>
          <p:cNvPr id="14" name="R2_80"/>
          <p:cNvSpPr/>
          <p:nvPr/>
        </p:nvSpPr>
        <p:spPr>
          <a:xfrm>
            <a:off x="987552" y="3950208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Sourced mechanism + reusable work + real partner → a shared next research action.</a:t>
            </a:r>
            <a:endParaRPr lang="en-US" sz="1600" dirty="0"/>
          </a:p>
        </p:txBody>
      </p:sp>
      <p:sp>
        <p:nvSpPr>
          <p:cNvPr id="15" name="R3_81"/>
          <p:cNvSpPr/>
          <p:nvPr/>
        </p:nvSpPr>
        <p:spPr>
          <a:xfrm>
            <a:off x="6199632" y="2560320"/>
            <a:ext cx="5257800" cy="2514600"/>
          </a:xfrm>
          <a:prstGeom prst="rect">
            <a:avLst/>
          </a:prstGeom>
          <a:solidFill>
            <a:srgbClr val="1B1E21"/>
          </a:solidFill>
          <a:ln w="15240">
            <a:solidFill>
              <a:srgbClr val="F08D91"/>
            </a:solidFill>
            <a:prstDash val="solid"/>
          </a:ln>
        </p:spPr>
      </p:sp>
      <p:sp>
        <p:nvSpPr>
          <p:cNvPr id="16" name="R3_82"/>
          <p:cNvSpPr/>
          <p:nvPr/>
        </p:nvSpPr>
        <p:spPr>
          <a:xfrm>
            <a:off x="6483096" y="280720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8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B</a:t>
            </a:r>
            <a:endParaRPr lang="en-US" sz="1300" dirty="0"/>
          </a:p>
        </p:txBody>
      </p:sp>
      <p:sp>
        <p:nvSpPr>
          <p:cNvPr id="17" name="R3_83"/>
          <p:cNvSpPr/>
          <p:nvPr/>
        </p:nvSpPr>
        <p:spPr>
          <a:xfrm>
            <a:off x="6483096" y="324612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gap + plan</a:t>
            </a:r>
            <a:endParaRPr lang="en-US" sz="2900" dirty="0"/>
          </a:p>
        </p:txBody>
      </p:sp>
      <p:sp>
        <p:nvSpPr>
          <p:cNvPr id="18" name="R3_84"/>
          <p:cNvSpPr/>
          <p:nvPr/>
        </p:nvSpPr>
        <p:spPr>
          <a:xfrm>
            <a:off x="6483096" y="395020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supported bridge → keep clusters separate, identify missing evidence, then investigate.</a:t>
            </a:r>
            <a:endParaRPr lang="en-US" sz="1600" dirty="0"/>
          </a:p>
        </p:txBody>
      </p:sp>
      <p:sp>
        <p:nvSpPr>
          <p:cNvPr id="19" name="R4_85"/>
          <p:cNvSpPr/>
          <p:nvPr/>
        </p:nvSpPr>
        <p:spPr>
          <a:xfrm>
            <a:off x="758952" y="55961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Impact: reduce time spent chasing unsupported links; make research handoffs more actionable.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id="8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3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350" fill="hold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id="17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" dur="3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350" fill="hold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35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350" fill="hold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id="26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" dur="3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9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" dur="3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86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87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88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APP SNAPSHOTS</a:t>
            </a:r>
            <a:endParaRPr lang="en-US" sz="1000" dirty="0"/>
          </a:p>
        </p:txBody>
      </p:sp>
      <p:sp>
        <p:nvSpPr>
          <p:cNvPr id="5" name="R0_89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90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91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800" dirty="0"/>
          </a:p>
        </p:txBody>
      </p:sp>
      <p:sp>
        <p:nvSpPr>
          <p:cNvPr id="8" name="R1_92"/>
          <p:cNvSpPr/>
          <p:nvPr/>
        </p:nvSpPr>
        <p:spPr>
          <a:xfrm>
            <a:off x="658368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 RarePath screens</a:t>
            </a:r>
            <a:endParaRPr lang="en-US" sz="3300" dirty="0"/>
          </a:p>
        </p:txBody>
      </p:sp>
      <p:sp>
        <p:nvSpPr>
          <p:cNvPr id="9" name="R1_93"/>
          <p:cNvSpPr/>
          <p:nvPr/>
        </p:nvSpPr>
        <p:spPr>
          <a:xfrm>
            <a:off x="676656" y="13807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Captured from the running app · example cases, not patient data</a:t>
            </a:r>
            <a:endParaRPr lang="en-US" sz="1300" dirty="0"/>
          </a:p>
        </p:txBody>
      </p:sp>
      <p:sp>
        <p:nvSpPr>
          <p:cNvPr id="10" name="R2_94"/>
          <p:cNvSpPr/>
          <p:nvPr/>
        </p:nvSpPr>
        <p:spPr>
          <a:xfrm>
            <a:off x="626364" y="1869948"/>
            <a:ext cx="3593592" cy="2926080"/>
          </a:xfrm>
          <a:prstGeom prst="rect">
            <a:avLst/>
          </a:prstGeom>
          <a:solidFill>
            <a:srgbClr val="1B1E21"/>
          </a:solidFill>
          <a:ln w="12700">
            <a:solidFill>
              <a:srgbClr val="5ED6A5"/>
            </a:solidFill>
            <a:prstDash val="solid"/>
          </a:ln>
        </p:spPr>
      </p:sp>
      <p:pic>
        <p:nvPicPr>
          <p:cNvPr id="11" name="R2_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01952"/>
            <a:ext cx="3529584" cy="2862072"/>
          </a:xfrm>
          <a:prstGeom prst="rect">
            <a:avLst/>
          </a:prstGeom>
        </p:spPr>
      </p:pic>
      <p:sp>
        <p:nvSpPr>
          <p:cNvPr id="12" name="R2_96"/>
          <p:cNvSpPr/>
          <p:nvPr/>
        </p:nvSpPr>
        <p:spPr>
          <a:xfrm>
            <a:off x="658368" y="5001768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ENTER A CASE</a:t>
            </a:r>
            <a:endParaRPr lang="en-US" sz="1500" dirty="0"/>
          </a:p>
        </p:txBody>
      </p:sp>
      <p:sp>
        <p:nvSpPr>
          <p:cNvPr id="13" name="R2_97"/>
          <p:cNvSpPr/>
          <p:nvPr/>
        </p:nvSpPr>
        <p:spPr>
          <a:xfrm>
            <a:off x="658368" y="5440680"/>
            <a:ext cx="3529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suspected diagnosis and symptoms, before confirmation.</a:t>
            </a:r>
            <a:endParaRPr lang="en-US" sz="1200" dirty="0"/>
          </a:p>
        </p:txBody>
      </p:sp>
      <p:sp>
        <p:nvSpPr>
          <p:cNvPr id="14" name="R3_98"/>
          <p:cNvSpPr/>
          <p:nvPr/>
        </p:nvSpPr>
        <p:spPr>
          <a:xfrm>
            <a:off x="4302252" y="1869948"/>
            <a:ext cx="3593592" cy="2926080"/>
          </a:xfrm>
          <a:prstGeom prst="rect">
            <a:avLst/>
          </a:prstGeom>
          <a:solidFill>
            <a:srgbClr val="1B1E21"/>
          </a:solidFill>
          <a:ln w="12700">
            <a:solidFill>
              <a:srgbClr val="5ED6A5"/>
            </a:solidFill>
            <a:prstDash val="solid"/>
          </a:ln>
        </p:spPr>
      </p:sp>
      <p:pic>
        <p:nvPicPr>
          <p:cNvPr id="15" name="R3_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901952"/>
            <a:ext cx="3529584" cy="2862072"/>
          </a:xfrm>
          <a:prstGeom prst="rect">
            <a:avLst/>
          </a:prstGeom>
        </p:spPr>
      </p:pic>
      <p:sp>
        <p:nvSpPr>
          <p:cNvPr id="16" name="R3_100"/>
          <p:cNvSpPr/>
          <p:nvPr/>
        </p:nvSpPr>
        <p:spPr>
          <a:xfrm>
            <a:off x="4334256" y="5001768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TRACE THE EVIDENCE</a:t>
            </a:r>
            <a:endParaRPr lang="en-US" sz="1500" dirty="0"/>
          </a:p>
        </p:txBody>
      </p:sp>
      <p:sp>
        <p:nvSpPr>
          <p:cNvPr id="17" name="R3_101"/>
          <p:cNvSpPr/>
          <p:nvPr/>
        </p:nvSpPr>
        <p:spPr>
          <a:xfrm>
            <a:off x="4334256" y="5440680"/>
            <a:ext cx="3529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profile, graph, sources and separated confidence.</a:t>
            </a:r>
            <a:endParaRPr lang="en-US" sz="1200" dirty="0"/>
          </a:p>
        </p:txBody>
      </p:sp>
      <p:sp>
        <p:nvSpPr>
          <p:cNvPr id="18" name="R4_102"/>
          <p:cNvSpPr/>
          <p:nvPr/>
        </p:nvSpPr>
        <p:spPr>
          <a:xfrm>
            <a:off x="7987284" y="1869948"/>
            <a:ext cx="3593592" cy="2926080"/>
          </a:xfrm>
          <a:prstGeom prst="rect">
            <a:avLst/>
          </a:prstGeom>
          <a:solidFill>
            <a:srgbClr val="1B1E21"/>
          </a:solidFill>
          <a:ln w="12700">
            <a:solidFill>
              <a:srgbClr val="F08D91"/>
            </a:solidFill>
            <a:prstDash val="solid"/>
          </a:ln>
        </p:spPr>
      </p:sp>
      <p:pic>
        <p:nvPicPr>
          <p:cNvPr id="19" name="R4_10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1901952"/>
            <a:ext cx="3529584" cy="2862072"/>
          </a:xfrm>
          <a:prstGeom prst="rect">
            <a:avLst/>
          </a:prstGeom>
        </p:spPr>
      </p:pic>
      <p:sp>
        <p:nvSpPr>
          <p:cNvPr id="20" name="R4_104"/>
          <p:cNvSpPr/>
          <p:nvPr/>
        </p:nvSpPr>
        <p:spPr>
          <a:xfrm>
            <a:off x="8019288" y="5001768"/>
            <a:ext cx="3529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8D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REACH A DECISION</a:t>
            </a:r>
            <a:endParaRPr lang="en-US" sz="1500" dirty="0"/>
          </a:p>
        </p:txBody>
      </p:sp>
      <p:sp>
        <p:nvSpPr>
          <p:cNvPr id="21" name="R4_105"/>
          <p:cNvSpPr/>
          <p:nvPr/>
        </p:nvSpPr>
        <p:spPr>
          <a:xfrm>
            <a:off x="8019288" y="5440680"/>
            <a:ext cx="352958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Rett / MECP2 versus GLUT1: keep clusters separate.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" dur="35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id="15" dur="1" fill="hold"/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" dur="3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7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" dur="1" fill="hold"/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" dur="350" fill="hold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id="20" dur="1" fill="hold"/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350" fill="hold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id="22" dur="1" fill="hold"/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350" fill="hold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id="24" dur="1" fill="hold"/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3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7" dur="1" fill="hold"/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" dur="350" fill="hold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id="29" dur="1" fill="hold"/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" dur="350" fill="hold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id="31" dur="1" fill="hold"/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" dur="350" fill="hold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id="33" dur="1" fill="hold"/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" dur="3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106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5ED6A5"/>
          </a:solidFill>
          <a:ln w="12700">
            <a:solidFill>
              <a:srgbClr val="5ED6A5"/>
            </a:solidFill>
            <a:prstDash val="solid"/>
          </a:ln>
        </p:spPr>
      </p:sp>
      <p:sp>
        <p:nvSpPr>
          <p:cNvPr id="3" name="R0_107"/>
          <p:cNvSpPr/>
          <p:nvPr/>
        </p:nvSpPr>
        <p:spPr>
          <a:xfrm>
            <a:off x="585216" y="2194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D6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RAREPATH  /  EVIDENCE ATLAS</a:t>
            </a:r>
            <a:endParaRPr lang="en-US" sz="1000" dirty="0"/>
          </a:p>
        </p:txBody>
      </p:sp>
      <p:sp>
        <p:nvSpPr>
          <p:cNvPr id="4" name="R0_108"/>
          <p:cNvSpPr/>
          <p:nvPr/>
        </p:nvSpPr>
        <p:spPr>
          <a:xfrm>
            <a:off x="8321040" y="219456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R0_109"/>
          <p:cNvSpPr/>
          <p:nvPr/>
        </p:nvSpPr>
        <p:spPr>
          <a:xfrm>
            <a:off x="585216" y="6391656"/>
            <a:ext cx="11018520" cy="0"/>
          </a:xfrm>
          <a:prstGeom prst="line">
            <a:avLst/>
          </a:prstGeom>
          <a:noFill/>
          <a:ln w="8890">
            <a:solidFill>
              <a:srgbClr val="353B3B"/>
            </a:solidFill>
            <a:prstDash val="solid"/>
          </a:ln>
        </p:spPr>
      </p:sp>
      <p:sp>
        <p:nvSpPr>
          <p:cNvPr id="6" name="R0_110"/>
          <p:cNvSpPr/>
          <p:nvPr/>
        </p:nvSpPr>
        <p:spPr>
          <a:xfrm>
            <a:off x="585216" y="650138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 NATION  /  HACKATHON 7</a:t>
            </a:r>
            <a:endParaRPr lang="en-US" sz="800" dirty="0"/>
          </a:p>
        </p:txBody>
      </p:sp>
      <p:sp>
        <p:nvSpPr>
          <p:cNvPr id="7" name="R0_111"/>
          <p:cNvSpPr/>
          <p:nvPr/>
        </p:nvSpPr>
        <p:spPr>
          <a:xfrm>
            <a:off x="10881360" y="6501384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C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06</a:t>
            </a:r>
            <a:endParaRPr lang="en-US" sz="800" dirty="0"/>
          </a:p>
        </p:txBody>
      </p:sp>
      <p:sp>
        <p:nvSpPr>
          <p:cNvPr id="8" name="R1_112"/>
          <p:cNvSpPr/>
          <p:nvPr/>
        </p:nvSpPr>
        <p:spPr>
          <a:xfrm>
            <a:off x="685800" y="1627632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dirty="0">
                <a:solidFill>
                  <a:srgbClr val="F3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400" dirty="0"/>
          </a:p>
        </p:txBody>
      </p:sp>
      <p:sp>
        <p:nvSpPr>
          <p:cNvPr id="9" name="R1_113"/>
          <p:cNvSpPr/>
          <p:nvPr/>
        </p:nvSpPr>
        <p:spPr>
          <a:xfrm>
            <a:off x="704088" y="3108960"/>
            <a:ext cx="10643616" cy="0"/>
          </a:xfrm>
          <a:prstGeom prst="line">
            <a:avLst/>
          </a:prstGeom>
          <a:noFill/>
          <a:ln w="25400">
            <a:solidFill>
              <a:srgbClr val="5ED6A5"/>
            </a:solidFill>
            <a:prstDash val="solid"/>
          </a:ln>
        </p:spPr>
      </p:sp>
      <p:sp>
        <p:nvSpPr>
          <p:cNvPr id="10" name="R2_114"/>
          <p:cNvSpPr/>
          <p:nvPr/>
        </p:nvSpPr>
        <p:spPr>
          <a:xfrm>
            <a:off x="704088" y="338328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dirty="0">
                <a:solidFill>
                  <a:srgbClr val="5ED6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300" dirty="0"/>
          </a:p>
        </p:txBody>
      </p:sp>
      <p:sp>
        <p:nvSpPr>
          <p:cNvPr id="11" name="R2_115"/>
          <p:cNvSpPr/>
          <p:nvPr/>
        </p:nvSpPr>
        <p:spPr>
          <a:xfrm>
            <a:off x="731520" y="490118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2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Elshahaby  /  RarePath Evidence Atlas</a:t>
            </a:r>
            <a:endParaRPr lang="en-US" sz="1900" dirty="0"/>
          </a:p>
        </p:txBody>
      </p:sp>
      <p:sp>
        <p:nvSpPr>
          <p:cNvPr id="12" name="R2_116"/>
          <p:cNvSpPr/>
          <p:nvPr/>
        </p:nvSpPr>
        <p:spPr>
          <a:xfrm>
            <a:off x="731520" y="5468112"/>
            <a:ext cx="9875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B7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hypotheses only · Not a diagnosis or prescription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stCondLst>
                  <p:cond delay="0"/>
                </p:stCondLst>
                <p:childTnLst>
                  <p:par>
                    <p:cTn id="3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350" fill="hold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id="6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3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8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" dur="350" fill="hold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id="11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" dur="350" fill="hold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id="13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3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nextCondLst>
                <p:cond evt="onNext" delay="0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Hack Nation Hackathon 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RarePath Evidence Atlas</dc:title>
  <dc:subject>Hack Nation Hackathon 7 | RarePath Evidence Atlas</dc:subject>
  <dc:creator>Hossam Elshahaby</dc:creator>
  <cp:lastModifiedBy>Hossam Elshahaby</cp:lastModifiedBy>
  <cp:revision>1</cp:revision>
  <dcterms:created xsi:type="dcterms:W3CDTF">2026-10-04T14:06:47Z</dcterms:created>
  <dcterms:modified xsi:type="dcterms:W3CDTF">2026-10-04T14:06:47Z</dcterms:modified>
</cp:coreProperties>
</file>